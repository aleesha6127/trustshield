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0"/>
  </p:notesMasterIdLst>
  <p:handoutMasterIdLst>
    <p:handoutMasterId r:id="rId21"/>
  </p:handoutMasterIdLst>
  <p:sldIdLst>
    <p:sldId id="256" r:id="rId5"/>
    <p:sldId id="271" r:id="rId6"/>
    <p:sldId id="281" r:id="rId7"/>
    <p:sldId id="279" r:id="rId8"/>
    <p:sldId id="280" r:id="rId9"/>
    <p:sldId id="257" r:id="rId10"/>
    <p:sldId id="275" r:id="rId11"/>
    <p:sldId id="276" r:id="rId12"/>
    <p:sldId id="283" r:id="rId13"/>
    <p:sldId id="284" r:id="rId14"/>
    <p:sldId id="285" r:id="rId15"/>
    <p:sldId id="286" r:id="rId16"/>
    <p:sldId id="287" r:id="rId17"/>
    <p:sldId id="288" r:id="rId18"/>
    <p:sldId id="28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81"/>
            <p14:sldId id="279"/>
            <p14:sldId id="280"/>
            <p14:sldId id="257"/>
            <p14:sldId id="275"/>
            <p14:sldId id="276"/>
            <p14:sldId id="283"/>
            <p14:sldId id="284"/>
            <p14:sldId id="285"/>
            <p14:sldId id="286"/>
            <p14:sldId id="287"/>
            <p14:sldId id="288"/>
            <p14:sldId id="289"/>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241" autoAdjust="0"/>
  </p:normalViewPr>
  <p:slideViewPr>
    <p:cSldViewPr snapToGrid="0">
      <p:cViewPr varScale="1">
        <p:scale>
          <a:sx n="63" d="100"/>
          <a:sy n="63" d="100"/>
        </p:scale>
        <p:origin x="804" y="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1/6/2026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1/6/2026</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1/6/2026</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latin typeface="Times New Roman" panose="02020603050405020304" pitchFamily="18" charset="0"/>
                <a:cs typeface="Times New Roman" panose="02020603050405020304" pitchFamily="18" charset="0"/>
              </a:rPr>
              <a:t>Trust shield - Safety &amp; Smart Emergency      Assistance Website</a:t>
            </a: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b="1" dirty="0">
                <a:latin typeface="Times New Roman" panose="02020603050405020304" pitchFamily="18" charset="0"/>
                <a:cs typeface="Times New Roman" panose="02020603050405020304" pitchFamily="18" charset="0"/>
              </a:rPr>
              <a:t>Abstract</a:t>
            </a:r>
          </a:p>
        </p:txBody>
      </p:sp>
      <p:sp>
        <p:nvSpPr>
          <p:cNvPr id="38" name="Content Placeholder 17"/>
          <p:cNvSpPr txBox="1">
            <a:spLocks/>
          </p:cNvSpPr>
          <p:nvPr/>
        </p:nvSpPr>
        <p:spPr>
          <a:xfrm>
            <a:off x="541610" y="1524708"/>
            <a:ext cx="11071270" cy="5119932"/>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Trust Shield is a web-based safety and smart emergency assistance system developed to help individuals during dangerous or emergency situations. The platform is mainly designed for women, children, and travelers who may face risks such as harassment, accidents, getting lost, or medical emergencies. Trust Shield provides a one-click SOS feature that sends instant alerts with real-time location to trusted contacts, enabling quick help.</a:t>
            </a:r>
          </a:p>
          <a:p>
            <a:pPr algn="just"/>
            <a:r>
              <a:rPr lang="en-US" sz="1600" dirty="0">
                <a:latin typeface="Times New Roman" panose="02020603050405020304" pitchFamily="18" charset="0"/>
                <a:cs typeface="Times New Roman" panose="02020603050405020304" pitchFamily="18" charset="0"/>
              </a:rPr>
              <a:t>The system also includes journey tracking, safe route guidance, and quick incident reporting to improve user safety. Users can upload evidence such as photos, videos, or audio recordings and generate police complaint documents when required. Additional features like nearby hospital and police station search, self-defense tutorials, and safety awareness tools make the platform a complete digital safety companion. By integrating modern web technologies and location services, Trust Shield aims to reduce emergency response time and enhance personal security in real-life situations.</a:t>
            </a: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Existing System overview</a:t>
            </a:r>
          </a:p>
        </p:txBody>
      </p:sp>
      <p:sp>
        <p:nvSpPr>
          <p:cNvPr id="13" name="Rectangle 3">
            <a:extLst>
              <a:ext uri="{FF2B5EF4-FFF2-40B4-BE49-F238E27FC236}">
                <a16:creationId xmlns:a16="http://schemas.microsoft.com/office/drawing/2014/main" id="{9A3C016F-8C7C-028C-743E-32D34F7ABCDD}"/>
              </a:ext>
            </a:extLst>
          </p:cNvPr>
          <p:cNvSpPr>
            <a:spLocks noGrp="1" noChangeArrowheads="1"/>
          </p:cNvSpPr>
          <p:nvPr>
            <p:ph sz="half" idx="4294967295"/>
          </p:nvPr>
        </p:nvSpPr>
        <p:spPr bwMode="auto">
          <a:xfrm>
            <a:off x="521207" y="1413888"/>
            <a:ext cx="8960184"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Depends mainly on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emergency phone calls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location sharing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Incident reporting is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and time-consuming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Lacks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journey tracking and safe route features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Evidence collection is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integrated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Safety tools are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scattered across multiple apps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79120" y="417576"/>
            <a:ext cx="6877119" cy="640080"/>
          </a:xfrm>
        </p:spPr>
        <p:txBody>
          <a:bodyPr/>
          <a:lstStyle/>
          <a:p>
            <a:r>
              <a:rPr lang="en-US" b="1" dirty="0">
                <a:latin typeface="Times New Roman" panose="02020603050405020304" pitchFamily="18" charset="0"/>
                <a:cs typeface="Times New Roman" panose="02020603050405020304" pitchFamily="18" charset="0"/>
              </a:rPr>
              <a:t>Proposed system overview</a:t>
            </a:r>
          </a:p>
        </p:txBody>
      </p:sp>
      <p:sp>
        <p:nvSpPr>
          <p:cNvPr id="25" name="Content Placeholder 17"/>
          <p:cNvSpPr txBox="1">
            <a:spLocks/>
          </p:cNvSpPr>
          <p:nvPr/>
        </p:nvSpPr>
        <p:spPr>
          <a:xfrm>
            <a:off x="416560" y="1270000"/>
            <a:ext cx="11277600" cy="5466080"/>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1600" dirty="0">
              <a:latin typeface="Times New Roman" panose="02020603050405020304" pitchFamily="18" charset="0"/>
              <a:cs typeface="Times New Roman" panose="02020603050405020304" pitchFamily="18" charset="0"/>
            </a:endParaRPr>
          </a:p>
        </p:txBody>
      </p:sp>
      <p:sp>
        <p:nvSpPr>
          <p:cNvPr id="5" name="Rectangle 3">
            <a:extLst>
              <a:ext uri="{FF2B5EF4-FFF2-40B4-BE49-F238E27FC236}">
                <a16:creationId xmlns:a16="http://schemas.microsoft.com/office/drawing/2014/main" id="{6A2C6145-AF32-050B-A8CF-4A8459A98319}"/>
              </a:ext>
            </a:extLst>
          </p:cNvPr>
          <p:cNvSpPr>
            <a:spLocks noChangeArrowheads="1"/>
          </p:cNvSpPr>
          <p:nvPr/>
        </p:nvSpPr>
        <p:spPr bwMode="auto">
          <a:xfrm>
            <a:off x="579120" y="1346734"/>
            <a:ext cx="7921592"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 Provides </a:t>
            </a:r>
            <a:r>
              <a:rPr lang="en-US" altLang="en-US" sz="1600" b="1" dirty="0">
                <a:latin typeface="Times New Roman" panose="02020603050405020304" pitchFamily="18" charset="0"/>
                <a:cs typeface="Times New Roman" panose="02020603050405020304" pitchFamily="18" charset="0"/>
              </a:rPr>
              <a:t>one-click SOS alerts with live location</a:t>
            </a:r>
          </a:p>
          <a:p>
            <a:pPr lvl="0" eaLnBrk="0" fontAlgn="base" hangingPunct="0">
              <a:spcBef>
                <a:spcPct val="0"/>
              </a:spcBef>
              <a:spcAft>
                <a:spcPct val="0"/>
              </a:spcAft>
              <a:buFontTx/>
              <a:buChar char="•"/>
            </a:pP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 Sends alerts to </a:t>
            </a:r>
            <a:r>
              <a:rPr lang="en-US" altLang="en-US" sz="1600" b="1" dirty="0">
                <a:latin typeface="Times New Roman" panose="02020603050405020304" pitchFamily="18" charset="0"/>
                <a:cs typeface="Times New Roman" panose="02020603050405020304" pitchFamily="18" charset="0"/>
              </a:rPr>
              <a:t>trusted emergency contacts</a:t>
            </a:r>
          </a:p>
          <a:p>
            <a:pPr lvl="0" eaLnBrk="0" fontAlgn="base" hangingPunct="0">
              <a:spcBef>
                <a:spcPct val="0"/>
              </a:spcBef>
              <a:spcAft>
                <a:spcPct val="0"/>
              </a:spcAft>
              <a:buFontTx/>
              <a:buChar char="•"/>
            </a:pP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 Supports </a:t>
            </a:r>
            <a:r>
              <a:rPr lang="en-US" altLang="en-US" sz="1600" b="1" dirty="0">
                <a:latin typeface="Times New Roman" panose="02020603050405020304" pitchFamily="18" charset="0"/>
                <a:cs typeface="Times New Roman" panose="02020603050405020304" pitchFamily="18" charset="0"/>
              </a:rPr>
              <a:t>journey tracking for safe travel</a:t>
            </a:r>
          </a:p>
          <a:p>
            <a:pPr lvl="0" eaLnBrk="0" fontAlgn="base" hangingPunct="0">
              <a:spcBef>
                <a:spcPct val="0"/>
              </a:spcBef>
              <a:spcAft>
                <a:spcPct val="0"/>
              </a:spcAft>
              <a:buFontTx/>
              <a:buChar char="•"/>
            </a:pP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 Enables </a:t>
            </a:r>
            <a:r>
              <a:rPr lang="en-US" altLang="en-US" sz="1600" b="1" dirty="0">
                <a:latin typeface="Times New Roman" panose="02020603050405020304" pitchFamily="18" charset="0"/>
                <a:cs typeface="Times New Roman" panose="02020603050405020304" pitchFamily="18" charset="0"/>
              </a:rPr>
              <a:t>quick incident and crime reporting</a:t>
            </a:r>
          </a:p>
          <a:p>
            <a:pPr lvl="0" eaLnBrk="0" fontAlgn="base" hangingPunct="0">
              <a:spcBef>
                <a:spcPct val="0"/>
              </a:spcBef>
              <a:spcAft>
                <a:spcPct val="0"/>
              </a:spcAft>
              <a:buFontTx/>
              <a:buChar char="•"/>
            </a:pP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 Allows </a:t>
            </a:r>
            <a:r>
              <a:rPr lang="en-US" altLang="en-US" sz="1600" b="1" dirty="0">
                <a:latin typeface="Times New Roman" panose="02020603050405020304" pitchFamily="18" charset="0"/>
                <a:cs typeface="Times New Roman" panose="02020603050405020304" pitchFamily="18" charset="0"/>
              </a:rPr>
              <a:t>evidence upload (photo, video, audio)</a:t>
            </a:r>
          </a:p>
          <a:p>
            <a:pPr lvl="0" eaLnBrk="0" fontAlgn="base" hangingPunct="0">
              <a:spcBef>
                <a:spcPct val="0"/>
              </a:spcBef>
              <a:spcAft>
                <a:spcPct val="0"/>
              </a:spcAft>
              <a:buFontTx/>
              <a:buChar char="•"/>
            </a:pP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 Shows </a:t>
            </a:r>
            <a:r>
              <a:rPr lang="en-US" altLang="en-US" sz="1600" b="1" dirty="0">
                <a:latin typeface="Times New Roman" panose="02020603050405020304" pitchFamily="18" charset="0"/>
                <a:cs typeface="Times New Roman" panose="02020603050405020304" pitchFamily="18" charset="0"/>
              </a:rPr>
              <a:t>nearby police stations and hospitals</a:t>
            </a:r>
            <a:endParaRPr lang="en-US"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System Architecture</a:t>
            </a:r>
          </a:p>
        </p:txBody>
      </p:sp>
      <p:sp>
        <p:nvSpPr>
          <p:cNvPr id="30" name="Content Placeholder 17"/>
          <p:cNvSpPr txBox="1">
            <a:spLocks/>
          </p:cNvSpPr>
          <p:nvPr/>
        </p:nvSpPr>
        <p:spPr>
          <a:xfrm>
            <a:off x="521207" y="1290320"/>
            <a:ext cx="11071353" cy="5486400"/>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just">
              <a:spcAft>
                <a:spcPts val="2000"/>
              </a:spcAft>
              <a:buNone/>
            </a:pPr>
            <a:r>
              <a:rPr lang="en-US" sz="6400" dirty="0">
                <a:latin typeface="Times New Roman" panose="02020603050405020304" pitchFamily="18" charset="0"/>
                <a:cs typeface="Times New Roman" panose="02020603050405020304" pitchFamily="18" charset="0"/>
              </a:rPr>
              <a:t>The </a:t>
            </a:r>
            <a:r>
              <a:rPr lang="en-US" sz="6400" b="1" dirty="0">
                <a:latin typeface="Times New Roman" panose="02020603050405020304" pitchFamily="18" charset="0"/>
                <a:cs typeface="Times New Roman" panose="02020603050405020304" pitchFamily="18" charset="0"/>
              </a:rPr>
              <a:t>Trust Shield system architecture</a:t>
            </a:r>
            <a:r>
              <a:rPr lang="en-US" sz="6400" dirty="0">
                <a:latin typeface="Times New Roman" panose="02020603050405020304" pitchFamily="18" charset="0"/>
                <a:cs typeface="Times New Roman" panose="02020603050405020304" pitchFamily="18" charset="0"/>
              </a:rPr>
              <a:t> follows a </a:t>
            </a:r>
            <a:r>
              <a:rPr lang="en-US" sz="6400" b="1" dirty="0">
                <a:latin typeface="Times New Roman" panose="02020603050405020304" pitchFamily="18" charset="0"/>
                <a:cs typeface="Times New Roman" panose="02020603050405020304" pitchFamily="18" charset="0"/>
              </a:rPr>
              <a:t>multi-tier (layered) architecture</a:t>
            </a:r>
            <a:r>
              <a:rPr lang="en-US" sz="6400" dirty="0">
                <a:latin typeface="Times New Roman" panose="02020603050405020304" pitchFamily="18" charset="0"/>
                <a:cs typeface="Times New Roman" panose="02020603050405020304" pitchFamily="18" charset="0"/>
              </a:rPr>
              <a:t> that ensures scalability, security, real-time communication, and efficient emergency response. The system integrates frontend interfaces, backend services, databases, third-party APIs, and optional AI/ML modules to deliver a complete safety solution.</a:t>
            </a:r>
          </a:p>
          <a:p>
            <a:pPr marL="342900" indent="-342900" algn="just">
              <a:spcAft>
                <a:spcPts val="2000"/>
              </a:spcAft>
              <a:buAutoNum type="arabicPeriod"/>
            </a:pPr>
            <a:r>
              <a:rPr lang="en-US" sz="9600" b="1" dirty="0">
                <a:latin typeface="Times New Roman" panose="02020603050405020304" pitchFamily="18" charset="0"/>
                <a:cs typeface="Times New Roman" panose="02020603050405020304" pitchFamily="18" charset="0"/>
              </a:rPr>
              <a:t>Presentation Layer (Frontend)</a:t>
            </a:r>
          </a:p>
          <a:p>
            <a:pPr algn="just"/>
            <a:r>
              <a:rPr lang="en-US" sz="6400" b="1" dirty="0">
                <a:latin typeface="Times New Roman" panose="02020603050405020304" pitchFamily="18" charset="0"/>
                <a:cs typeface="Times New Roman" panose="02020603050405020304" pitchFamily="18" charset="0"/>
              </a:rPr>
              <a:t>Components:</a:t>
            </a:r>
            <a:endParaRPr lang="en-US" sz="6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User Dashboard (Web Interface)</a:t>
            </a:r>
          </a:p>
          <a:p>
            <a:pPr algn="just">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SOS Button Interface</a:t>
            </a:r>
          </a:p>
          <a:p>
            <a:pPr algn="just">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Journey Tracker UI</a:t>
            </a:r>
          </a:p>
          <a:p>
            <a:pPr algn="just">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Incident &amp; Crime Reporting Forms</a:t>
            </a:r>
          </a:p>
          <a:p>
            <a:pPr algn="just">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Evidence Upload Interface</a:t>
            </a:r>
          </a:p>
          <a:p>
            <a:pPr algn="just">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Period &amp; Health Tracker</a:t>
            </a:r>
          </a:p>
          <a:p>
            <a:pPr algn="just">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Missing Person Information Board</a:t>
            </a:r>
          </a:p>
          <a:p>
            <a:pPr marL="0" indent="0" algn="just">
              <a:buNone/>
            </a:pPr>
            <a:endParaRPr lang="en-US" sz="6400" dirty="0">
              <a:latin typeface="Times New Roman" panose="02020603050405020304" pitchFamily="18" charset="0"/>
              <a:cs typeface="Times New Roman" panose="02020603050405020304" pitchFamily="18" charset="0"/>
            </a:endParaRPr>
          </a:p>
          <a:p>
            <a:pPr marL="0" indent="0" algn="just">
              <a:spcAft>
                <a:spcPts val="2000"/>
              </a:spcAft>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683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Content Placeholder 4">
            <a:extLst>
              <a:ext uri="{FF2B5EF4-FFF2-40B4-BE49-F238E27FC236}">
                <a16:creationId xmlns:a16="http://schemas.microsoft.com/office/drawing/2014/main" id="{ED0168E3-C6CB-4ED0-932C-A7A9E84B2231}"/>
              </a:ext>
            </a:extLst>
          </p:cNvPr>
          <p:cNvSpPr txBox="1">
            <a:spLocks/>
          </p:cNvSpPr>
          <p:nvPr/>
        </p:nvSpPr>
        <p:spPr>
          <a:xfrm>
            <a:off x="565445" y="1148080"/>
            <a:ext cx="11061110" cy="5608320"/>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Technologies (Example):</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PYTHON,HTML, CSS, JavaScript</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React.js </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Map APIs (Google Maps / OpenStreetMap)</a:t>
            </a:r>
          </a:p>
          <a:p>
            <a:pPr algn="just"/>
            <a:r>
              <a:rPr lang="en-US" sz="1600" b="1" dirty="0">
                <a:latin typeface="Times New Roman" panose="02020603050405020304" pitchFamily="18" charset="0"/>
                <a:cs typeface="Times New Roman" panose="02020603050405020304" pitchFamily="18" charset="0"/>
              </a:rPr>
              <a:t>Function:</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Captures user input</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Displays alerts, maps, and safety information</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Sends requests to backend services</a:t>
            </a:r>
          </a:p>
        </p:txBody>
      </p:sp>
      <p:sp>
        <p:nvSpPr>
          <p:cNvPr id="22" name="Content Placeholder 4">
            <a:extLst>
              <a:ext uri="{FF2B5EF4-FFF2-40B4-BE49-F238E27FC236}">
                <a16:creationId xmlns:a16="http://schemas.microsoft.com/office/drawing/2014/main" id="{9DA4ABD7-04B4-D7F7-4ECC-AAD818B62CEF}"/>
              </a:ext>
            </a:extLst>
          </p:cNvPr>
          <p:cNvSpPr txBox="1">
            <a:spLocks/>
          </p:cNvSpPr>
          <p:nvPr/>
        </p:nvSpPr>
        <p:spPr>
          <a:xfrm>
            <a:off x="765130" y="1371600"/>
            <a:ext cx="11061110" cy="5608320"/>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algn="just"/>
            <a:endParaRPr lang="en-US" sz="1600"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9B8B72F2-0CCD-A344-469B-59B0F5E7C0CC}"/>
              </a:ext>
            </a:extLst>
          </p:cNvPr>
          <p:cNvSpPr>
            <a:spLocks noChangeArrowheads="1"/>
          </p:cNvSpPr>
          <p:nvPr/>
        </p:nvSpPr>
        <p:spPr bwMode="auto">
          <a:xfrm>
            <a:off x="565445" y="1371600"/>
            <a:ext cx="341151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Person Information Board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 Route &amp; Danger Zone Map View</a:t>
            </a:r>
          </a:p>
        </p:txBody>
      </p: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39E4C4C-E179-0870-478A-5407D6CC39AA}"/>
              </a:ext>
            </a:extLst>
          </p:cNvPr>
          <p:cNvSpPr>
            <a:spLocks noGrp="1"/>
          </p:cNvSpPr>
          <p:nvPr>
            <p:ph type="title"/>
          </p:nvPr>
        </p:nvSpPr>
        <p:spPr>
          <a:xfrm>
            <a:off x="521207" y="448056"/>
            <a:ext cx="6885433" cy="640080"/>
          </a:xfrm>
        </p:spPr>
        <p:txBody>
          <a:bodyPr>
            <a:normAutofit/>
          </a:bodyPr>
          <a:lstStyle/>
          <a:p>
            <a:r>
              <a:rPr lang="en-US" sz="2400" b="1" dirty="0">
                <a:latin typeface="Times New Roman" panose="02020603050405020304" pitchFamily="18" charset="0"/>
                <a:cs typeface="Times New Roman" panose="02020603050405020304" pitchFamily="18" charset="0"/>
              </a:rPr>
              <a:t>2. Application Layer (Backend Server)</a:t>
            </a:r>
          </a:p>
        </p:txBody>
      </p:sp>
      <p:sp>
        <p:nvSpPr>
          <p:cNvPr id="26" name="Content Placeholder 4">
            <a:extLst>
              <a:ext uri="{FF2B5EF4-FFF2-40B4-BE49-F238E27FC236}">
                <a16:creationId xmlns:a16="http://schemas.microsoft.com/office/drawing/2014/main" id="{F1A23AB1-A164-F01D-0023-A981C2723162}"/>
              </a:ext>
            </a:extLst>
          </p:cNvPr>
          <p:cNvSpPr txBox="1">
            <a:spLocks/>
          </p:cNvSpPr>
          <p:nvPr/>
        </p:nvSpPr>
        <p:spPr>
          <a:xfrm>
            <a:off x="541610" y="1249680"/>
            <a:ext cx="11061110" cy="5608320"/>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algn="just"/>
            <a:r>
              <a:rPr lang="en-US" sz="1600" dirty="0">
                <a:latin typeface="Times New Roman" panose="02020603050405020304" pitchFamily="18" charset="0"/>
                <a:cs typeface="Times New Roman" panose="02020603050405020304" pitchFamily="18" charset="0"/>
              </a:rPr>
              <a:t>This is the core logic layer that handles all system operations.</a:t>
            </a:r>
          </a:p>
          <a:p>
            <a:pPr algn="just"/>
            <a:r>
              <a:rPr lang="en-US" sz="1600" b="1" dirty="0">
                <a:latin typeface="Times New Roman" panose="02020603050405020304" pitchFamily="18" charset="0"/>
                <a:cs typeface="Times New Roman" panose="02020603050405020304" pitchFamily="18" charset="0"/>
              </a:rPr>
              <a:t>Components:</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User Authentication &amp; Authorization Module</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SOS Alert Management Service</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Journey Tracking Service</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Incident &amp; Crime Report Management</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Police Complaint PDF Generator</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Emergency Notification Service</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Evidence Processing Module</a:t>
            </a:r>
          </a:p>
          <a:p>
            <a:pPr algn="just"/>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7668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98FF9797-96A2-1481-6BCD-68F45B38C626}"/>
              </a:ext>
            </a:extLst>
          </p:cNvPr>
          <p:cNvSpPr txBox="1"/>
          <p:nvPr/>
        </p:nvSpPr>
        <p:spPr>
          <a:xfrm>
            <a:off x="521207" y="1301802"/>
            <a:ext cx="6096000" cy="2308324"/>
          </a:xfrm>
          <a:prstGeom prst="rect">
            <a:avLst/>
          </a:prstGeom>
          <a:noFill/>
        </p:spPr>
        <p:txBody>
          <a:bodyPr wrap="square">
            <a:spAutoFit/>
          </a:bodyPr>
          <a:lstStyle/>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Quick Alert Handler</a:t>
            </a:r>
          </a:p>
          <a:p>
            <a:pPr algn="just"/>
            <a:r>
              <a:rPr lang="en-US" sz="1600" b="1" dirty="0">
                <a:latin typeface="Times New Roman" panose="02020603050405020304" pitchFamily="18" charset="0"/>
                <a:cs typeface="Times New Roman" panose="02020603050405020304" pitchFamily="18" charset="0"/>
              </a:rPr>
              <a:t> </a:t>
            </a:r>
          </a:p>
          <a:p>
            <a:pPr algn="just"/>
            <a:r>
              <a:rPr lang="en-US" sz="1600" b="1" dirty="0">
                <a:latin typeface="Times New Roman" panose="02020603050405020304" pitchFamily="18" charset="0"/>
                <a:cs typeface="Times New Roman" panose="02020603050405020304" pitchFamily="18" charset="0"/>
              </a:rPr>
              <a:t>  Technologies (Example):</a:t>
            </a:r>
          </a:p>
          <a:p>
            <a:pPr algn="just"/>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Node.js / Express.js or Python Flask / Django</a:t>
            </a:r>
          </a:p>
          <a:p>
            <a:pPr algn="just"/>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RESTful APIs</a:t>
            </a:r>
          </a:p>
          <a:p>
            <a:pPr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Web Sockets (for real-time alerts)</a:t>
            </a:r>
          </a:p>
        </p:txBody>
      </p:sp>
      <p:sp>
        <p:nvSpPr>
          <p:cNvPr id="22" name="TextBox 21">
            <a:extLst>
              <a:ext uri="{FF2B5EF4-FFF2-40B4-BE49-F238E27FC236}">
                <a16:creationId xmlns:a16="http://schemas.microsoft.com/office/drawing/2014/main" id="{E000DD36-7305-A0FC-AFC5-7CFCBF84F42E}"/>
              </a:ext>
            </a:extLst>
          </p:cNvPr>
          <p:cNvSpPr txBox="1"/>
          <p:nvPr/>
        </p:nvSpPr>
        <p:spPr>
          <a:xfrm>
            <a:off x="521207" y="3785570"/>
            <a:ext cx="6096000" cy="1815882"/>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  Function:</a:t>
            </a:r>
          </a:p>
          <a:p>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Processes requests from frontend</a:t>
            </a:r>
          </a:p>
          <a:p>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Executes emergency workflows</a:t>
            </a:r>
          </a:p>
          <a:p>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Communicates with databases and external services</a:t>
            </a:r>
          </a:p>
        </p:txBody>
      </p:sp>
    </p:spTree>
    <p:extLst>
      <p:ext uri="{BB962C8B-B14F-4D97-AF65-F5344CB8AC3E}">
        <p14:creationId xmlns:p14="http://schemas.microsoft.com/office/powerpoint/2010/main" val="1769326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6DF50-A6CB-6520-DA7E-F52838FA94E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Use case diagram</a:t>
            </a:r>
          </a:p>
        </p:txBody>
      </p:sp>
      <p:pic>
        <p:nvPicPr>
          <p:cNvPr id="5" name="Content Placeholder 4">
            <a:extLst>
              <a:ext uri="{FF2B5EF4-FFF2-40B4-BE49-F238E27FC236}">
                <a16:creationId xmlns:a16="http://schemas.microsoft.com/office/drawing/2014/main" id="{09FFACE8-99D3-5E09-6BF6-F7CB273798E2}"/>
              </a:ext>
            </a:extLst>
          </p:cNvPr>
          <p:cNvPicPr>
            <a:picLocks noGrp="1" noChangeAspect="1"/>
          </p:cNvPicPr>
          <p:nvPr>
            <p:ph sz="quarter" idx="10"/>
          </p:nvPr>
        </p:nvPicPr>
        <p:blipFill>
          <a:blip r:embed="rId2"/>
          <a:stretch>
            <a:fillRect/>
          </a:stretch>
        </p:blipFill>
        <p:spPr>
          <a:xfrm>
            <a:off x="2260600" y="1257298"/>
            <a:ext cx="7137400" cy="5600701"/>
          </a:xfrm>
        </p:spPr>
      </p:pic>
    </p:spTree>
    <p:extLst>
      <p:ext uri="{BB962C8B-B14F-4D97-AF65-F5344CB8AC3E}">
        <p14:creationId xmlns:p14="http://schemas.microsoft.com/office/powerpoint/2010/main" val="1785900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B1110-9770-FAC3-FD72-7167415B263A}"/>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Dataflow Diagram</a:t>
            </a:r>
          </a:p>
        </p:txBody>
      </p:sp>
      <p:sp>
        <p:nvSpPr>
          <p:cNvPr id="3" name="Content Placeholder 2">
            <a:extLst>
              <a:ext uri="{FF2B5EF4-FFF2-40B4-BE49-F238E27FC236}">
                <a16:creationId xmlns:a16="http://schemas.microsoft.com/office/drawing/2014/main" id="{5886DBBE-1A48-B35F-5F8F-8D8193912E5C}"/>
              </a:ext>
            </a:extLst>
          </p:cNvPr>
          <p:cNvSpPr>
            <a:spLocks noGrp="1"/>
          </p:cNvSpPr>
          <p:nvPr>
            <p:ph sz="quarter" idx="10"/>
          </p:nvPr>
        </p:nvSpPr>
        <p:spPr/>
        <p:txBody>
          <a:bodyPr>
            <a:normAutofit/>
          </a:bodyPr>
          <a:lstStyle/>
          <a:p>
            <a:r>
              <a:rPr lang="en-US" sz="1600" b="1" dirty="0">
                <a:latin typeface="Times New Roman" panose="02020603050405020304" pitchFamily="18" charset="0"/>
                <a:cs typeface="Times New Roman" panose="02020603050405020304" pitchFamily="18" charset="0"/>
              </a:rPr>
              <a:t>Level-0</a:t>
            </a:r>
          </a:p>
          <a:p>
            <a:endParaRPr lang="en-US" sz="16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ED15604-B7B2-DE9B-33EA-ECFBDAF511EB}"/>
              </a:ext>
            </a:extLst>
          </p:cNvPr>
          <p:cNvPicPr>
            <a:picLocks noChangeAspect="1"/>
          </p:cNvPicPr>
          <p:nvPr/>
        </p:nvPicPr>
        <p:blipFill rotWithShape="1">
          <a:blip r:embed="rId2"/>
          <a:srcRect l="-4790" t="1827" r="54901" b="60528"/>
          <a:stretch/>
        </p:blipFill>
        <p:spPr>
          <a:xfrm>
            <a:off x="1296999" y="2082799"/>
            <a:ext cx="7137399" cy="4682067"/>
          </a:xfrm>
          <a:prstGeom prst="rect">
            <a:avLst/>
          </a:prstGeom>
        </p:spPr>
      </p:pic>
    </p:spTree>
    <p:extLst>
      <p:ext uri="{BB962C8B-B14F-4D97-AF65-F5344CB8AC3E}">
        <p14:creationId xmlns:p14="http://schemas.microsoft.com/office/powerpoint/2010/main" val="3467671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1ECBE-3A0F-33B2-A442-834636FE7AE9}"/>
              </a:ext>
            </a:extLst>
          </p:cNvPr>
          <p:cNvSpPr>
            <a:spLocks noGrp="1"/>
          </p:cNvSpPr>
          <p:nvPr>
            <p:ph sz="quarter" idx="10"/>
          </p:nvPr>
        </p:nvSpPr>
        <p:spPr/>
        <p:txBody>
          <a:bodyPr>
            <a:normAutofit/>
          </a:bodyPr>
          <a:lstStyle/>
          <a:p>
            <a:r>
              <a:rPr lang="en-US" sz="1400" b="1" dirty="0">
                <a:latin typeface="Times New Roman" panose="02020603050405020304" pitchFamily="18" charset="0"/>
                <a:cs typeface="Times New Roman" panose="02020603050405020304" pitchFamily="18" charset="0"/>
              </a:rPr>
              <a:t>level-1</a:t>
            </a:r>
          </a:p>
        </p:txBody>
      </p:sp>
      <p:pic>
        <p:nvPicPr>
          <p:cNvPr id="5" name="Picture 4">
            <a:extLst>
              <a:ext uri="{FF2B5EF4-FFF2-40B4-BE49-F238E27FC236}">
                <a16:creationId xmlns:a16="http://schemas.microsoft.com/office/drawing/2014/main" id="{70D71DDB-2042-A1ED-A2D0-663FECB7C87E}"/>
              </a:ext>
            </a:extLst>
          </p:cNvPr>
          <p:cNvPicPr>
            <a:picLocks noChangeAspect="1"/>
          </p:cNvPicPr>
          <p:nvPr/>
        </p:nvPicPr>
        <p:blipFill rotWithShape="1">
          <a:blip r:embed="rId2"/>
          <a:srcRect l="54809" t="8395" r="-335" b="37778"/>
          <a:stretch/>
        </p:blipFill>
        <p:spPr>
          <a:xfrm>
            <a:off x="2243667" y="1659466"/>
            <a:ext cx="6036733" cy="5046134"/>
          </a:xfrm>
          <a:prstGeom prst="rect">
            <a:avLst/>
          </a:prstGeom>
        </p:spPr>
      </p:pic>
    </p:spTree>
    <p:extLst>
      <p:ext uri="{BB962C8B-B14F-4D97-AF65-F5344CB8AC3E}">
        <p14:creationId xmlns:p14="http://schemas.microsoft.com/office/powerpoint/2010/main" val="661583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FA9C5B-4170-CF04-C800-A2D6DEBC81C5}"/>
              </a:ext>
            </a:extLst>
          </p:cNvPr>
          <p:cNvSpPr>
            <a:spLocks noGrp="1"/>
          </p:cNvSpPr>
          <p:nvPr>
            <p:ph sz="quarter" idx="10"/>
          </p:nvPr>
        </p:nvSpPr>
        <p:spPr/>
        <p:txBody>
          <a:bodyPr>
            <a:normAutofit/>
          </a:bodyPr>
          <a:lstStyle/>
          <a:p>
            <a:r>
              <a:rPr lang="en-US" sz="1600" b="1" dirty="0">
                <a:latin typeface="Times New Roman" panose="02020603050405020304" pitchFamily="18" charset="0"/>
                <a:cs typeface="Times New Roman" panose="02020603050405020304" pitchFamily="18" charset="0"/>
              </a:rPr>
              <a:t>Level-2</a:t>
            </a:r>
          </a:p>
          <a:p>
            <a:endParaRPr lang="en-US" dirty="0"/>
          </a:p>
        </p:txBody>
      </p:sp>
      <p:pic>
        <p:nvPicPr>
          <p:cNvPr id="5" name="Picture 4">
            <a:extLst>
              <a:ext uri="{FF2B5EF4-FFF2-40B4-BE49-F238E27FC236}">
                <a16:creationId xmlns:a16="http://schemas.microsoft.com/office/drawing/2014/main" id="{44F637D0-C23B-EF54-39F4-88665A200863}"/>
              </a:ext>
            </a:extLst>
          </p:cNvPr>
          <p:cNvPicPr>
            <a:picLocks noChangeAspect="1"/>
          </p:cNvPicPr>
          <p:nvPr/>
        </p:nvPicPr>
        <p:blipFill rotWithShape="1">
          <a:blip r:embed="rId2"/>
          <a:srcRect t="46877" r="36230"/>
          <a:stretch/>
        </p:blipFill>
        <p:spPr>
          <a:xfrm>
            <a:off x="2747772" y="1032933"/>
            <a:ext cx="6241429" cy="4953000"/>
          </a:xfrm>
          <a:prstGeom prst="rect">
            <a:avLst/>
          </a:prstGeom>
        </p:spPr>
      </p:pic>
    </p:spTree>
    <p:extLst>
      <p:ext uri="{BB962C8B-B14F-4D97-AF65-F5344CB8AC3E}">
        <p14:creationId xmlns:p14="http://schemas.microsoft.com/office/powerpoint/2010/main" val="2648818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929B5-F7B2-5257-2E1E-FDE2A4632BB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scope</a:t>
            </a:r>
          </a:p>
        </p:txBody>
      </p:sp>
      <p:sp>
        <p:nvSpPr>
          <p:cNvPr id="3" name="Content Placeholder 2">
            <a:extLst>
              <a:ext uri="{FF2B5EF4-FFF2-40B4-BE49-F238E27FC236}">
                <a16:creationId xmlns:a16="http://schemas.microsoft.com/office/drawing/2014/main" id="{EB8C3028-962D-791A-A8FC-357C91193FB7}"/>
              </a:ext>
            </a:extLst>
          </p:cNvPr>
          <p:cNvSpPr>
            <a:spLocks noGrp="1"/>
          </p:cNvSpPr>
          <p:nvPr>
            <p:ph sz="quarter" idx="10"/>
          </p:nvPr>
        </p:nvSpPr>
        <p:spPr>
          <a:xfrm>
            <a:off x="539495" y="1435608"/>
            <a:ext cx="11097447" cy="3977640"/>
          </a:xfrm>
        </p:spPr>
        <p:txBody>
          <a:bodyPr>
            <a:noAutofit/>
          </a:bodyPr>
          <a:lstStyle/>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Develop a </a:t>
            </a:r>
            <a:r>
              <a:rPr lang="en-US" sz="1600" b="1" dirty="0">
                <a:latin typeface="Times New Roman" panose="02020603050405020304" pitchFamily="18" charset="0"/>
                <a:cs typeface="Times New Roman" panose="02020603050405020304" pitchFamily="18" charset="0"/>
              </a:rPr>
              <a:t>web-based safety assistance system</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Provide </a:t>
            </a:r>
            <a:r>
              <a:rPr lang="en-US" sz="1600" b="1" dirty="0">
                <a:latin typeface="Times New Roman" panose="02020603050405020304" pitchFamily="18" charset="0"/>
                <a:cs typeface="Times New Roman" panose="02020603050405020304" pitchFamily="18" charset="0"/>
              </a:rPr>
              <a:t>SOS alerts with live location sharing</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Enable </a:t>
            </a:r>
            <a:r>
              <a:rPr lang="en-US" sz="1600" b="1" dirty="0">
                <a:latin typeface="Times New Roman" panose="02020603050405020304" pitchFamily="18" charset="0"/>
                <a:cs typeface="Times New Roman" panose="02020603050405020304" pitchFamily="18" charset="0"/>
              </a:rPr>
              <a:t>journey tracking and safe route guidance</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Support </a:t>
            </a:r>
            <a:r>
              <a:rPr lang="en-US" sz="1600" b="1" dirty="0">
                <a:latin typeface="Times New Roman" panose="02020603050405020304" pitchFamily="18" charset="0"/>
                <a:cs typeface="Times New Roman" panose="02020603050405020304" pitchFamily="18" charset="0"/>
              </a:rPr>
              <a:t>incident reporting and evidence upload</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Show </a:t>
            </a:r>
            <a:r>
              <a:rPr lang="en-US" sz="1600" b="1" dirty="0">
                <a:latin typeface="Times New Roman" panose="02020603050405020304" pitchFamily="18" charset="0"/>
                <a:cs typeface="Times New Roman" panose="02020603050405020304" pitchFamily="18" charset="0"/>
              </a:rPr>
              <a:t>nearby hospitals and police stations</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Ensure </a:t>
            </a:r>
            <a:r>
              <a:rPr lang="en-US" sz="1600" b="1" dirty="0">
                <a:latin typeface="Times New Roman" panose="02020603050405020304" pitchFamily="18" charset="0"/>
                <a:cs typeface="Times New Roman" panose="02020603050405020304" pitchFamily="18" charset="0"/>
              </a:rPr>
              <a:t>secure user data and authentication</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0480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E21E1F-2EB3-65A0-CCE5-A80C34910732}"/>
              </a:ext>
            </a:extLst>
          </p:cNvPr>
          <p:cNvSpPr>
            <a:spLocks noGrp="1"/>
          </p:cNvSpPr>
          <p:nvPr>
            <p:ph sz="quarter" idx="10"/>
          </p:nvPr>
        </p:nvSpPr>
        <p:spPr>
          <a:xfrm>
            <a:off x="539495" y="1435608"/>
            <a:ext cx="11155199" cy="3977640"/>
          </a:xfrm>
        </p:spPr>
        <p:txBody>
          <a:bodyPr>
            <a:normAutofit/>
          </a:bodyPr>
          <a:lstStyle/>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To provide </a:t>
            </a:r>
            <a:r>
              <a:rPr lang="en-US" sz="1600" b="1" dirty="0">
                <a:latin typeface="Times New Roman" panose="02020603050405020304" pitchFamily="18" charset="0"/>
                <a:cs typeface="Times New Roman" panose="02020603050405020304" pitchFamily="18" charset="0"/>
              </a:rPr>
              <a:t>instant help during emergencies</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To improve </a:t>
            </a:r>
            <a:r>
              <a:rPr lang="en-US" sz="1600" b="1" dirty="0">
                <a:latin typeface="Times New Roman" panose="02020603050405020304" pitchFamily="18" charset="0"/>
                <a:cs typeface="Times New Roman" panose="02020603050405020304" pitchFamily="18" charset="0"/>
              </a:rPr>
              <a:t>personal safety and awareness</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To reduce </a:t>
            </a:r>
            <a:r>
              <a:rPr lang="en-US" sz="1600" b="1" dirty="0">
                <a:latin typeface="Times New Roman" panose="02020603050405020304" pitchFamily="18" charset="0"/>
                <a:cs typeface="Times New Roman" panose="02020603050405020304" pitchFamily="18" charset="0"/>
              </a:rPr>
              <a:t>emergency response time</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To enable </a:t>
            </a:r>
            <a:r>
              <a:rPr lang="en-US" sz="1600" b="1" dirty="0">
                <a:latin typeface="Times New Roman" panose="02020603050405020304" pitchFamily="18" charset="0"/>
                <a:cs typeface="Times New Roman" panose="02020603050405020304" pitchFamily="18" charset="0"/>
              </a:rPr>
              <a:t>real-time location-based alerts</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To offer a </a:t>
            </a:r>
            <a:r>
              <a:rPr lang="en-US" sz="1600" b="1" dirty="0">
                <a:latin typeface="Times New Roman" panose="02020603050405020304" pitchFamily="18" charset="0"/>
                <a:cs typeface="Times New Roman" panose="02020603050405020304" pitchFamily="18" charset="0"/>
              </a:rPr>
              <a:t>single integrated safety platform</a:t>
            </a:r>
            <a:endParaRPr lang="en-US"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To ensure </a:t>
            </a:r>
            <a:r>
              <a:rPr lang="en-US" sz="1600" b="1" dirty="0">
                <a:latin typeface="Times New Roman" panose="02020603050405020304" pitchFamily="18" charset="0"/>
                <a:cs typeface="Times New Roman" panose="02020603050405020304" pitchFamily="18" charset="0"/>
              </a:rPr>
              <a:t>reliable and user-friendly operation</a:t>
            </a:r>
            <a:endParaRPr lang="en-US" sz="16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E9A08A0D-8036-7881-532D-02FF1D29B74F}"/>
              </a:ext>
            </a:extLst>
          </p:cNvPr>
          <p:cNvSpPr>
            <a:spLocks noGrp="1"/>
          </p:cNvSpPr>
          <p:nvPr>
            <p:ph type="title"/>
          </p:nvPr>
        </p:nvSpPr>
        <p:spPr>
          <a:xfrm>
            <a:off x="521207" y="448056"/>
            <a:ext cx="6877119" cy="640080"/>
          </a:xfrm>
        </p:spPr>
        <p:txBody>
          <a:bodyPr/>
          <a:lstStyle/>
          <a:p>
            <a:r>
              <a:rPr lang="en-US" b="1" dirty="0">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36059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862F7-FA3B-B615-FB30-3E621F17D29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7C6C16CF-CF29-6646-28F8-759397B9578D}"/>
              </a:ext>
            </a:extLst>
          </p:cNvPr>
          <p:cNvSpPr>
            <a:spLocks noGrp="1"/>
          </p:cNvSpPr>
          <p:nvPr>
            <p:ph sz="quarter" idx="10"/>
          </p:nvPr>
        </p:nvSpPr>
        <p:spPr>
          <a:xfrm>
            <a:off x="539495" y="1435608"/>
            <a:ext cx="11097447" cy="3977640"/>
          </a:xfrm>
        </p:spPr>
        <p:txBody>
          <a:bodyPr>
            <a:normAutofit/>
          </a:bodyPr>
          <a:lstStyle/>
          <a:p>
            <a:pPr algn="just"/>
            <a:r>
              <a:rPr lang="en-US" sz="1600" dirty="0">
                <a:latin typeface="Times New Roman" panose="02020603050405020304" pitchFamily="18" charset="0"/>
                <a:cs typeface="Times New Roman" panose="02020603050405020304" pitchFamily="18" charset="0"/>
              </a:rPr>
              <a:t>Trust Shield is a smart and reliable web-based safety platform that provides quick emergency assistance and real-time location support. By integrating SOS alerts, incident reporting, and safety features into a single system, it helps improve personal security and reduce response time during emergencies. The project serves as an effective digital safety companion for real-life situations.</a:t>
            </a:r>
          </a:p>
        </p:txBody>
      </p:sp>
    </p:spTree>
    <p:extLst>
      <p:ext uri="{BB962C8B-B14F-4D97-AF65-F5344CB8AC3E}">
        <p14:creationId xmlns:p14="http://schemas.microsoft.com/office/powerpoint/2010/main" val="1843538444"/>
      </p:ext>
    </p:extLst>
  </p:cSld>
  <p:clrMapOvr>
    <a:masterClrMapping/>
  </p:clrMapOvr>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 v2" id="{08D89365-2E4C-432D-9349-8DF9B80AEEA1}" vid="{010FF314-90DF-4A21-BD0D-ADCBA3423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3EE4EA-81C0-48D0-BEBD-A2EFD6B38B42}">
  <ds:schemaRefs>
    <ds:schemaRef ds:uri="http://www.w3.org/XML/1998/namespace"/>
    <ds:schemaRef ds:uri="http://schemas.microsoft.com/office/2006/documentManagement/types"/>
    <ds:schemaRef ds:uri="http://purl.org/dc/dcmitype/"/>
    <ds:schemaRef ds:uri="http://schemas.microsoft.com/sharepoint/v3"/>
    <ds:schemaRef ds:uri="http://purl.org/dc/elements/1.1/"/>
    <ds:schemaRef ds:uri="http://purl.org/dc/terms/"/>
    <ds:schemaRef ds:uri="230e9df3-be65-4c73-a93b-d1236ebd677e"/>
    <ds:schemaRef ds:uri="http://schemas.microsoft.com/office/infopath/2007/PartnerControls"/>
    <ds:schemaRef ds:uri="71af3243-3dd4-4a8d-8c0d-dd76da1f02a5"/>
    <ds:schemaRef ds:uri="http://schemas.openxmlformats.org/package/2006/metadata/core-properties"/>
    <ds:schemaRef ds:uri="16c05727-aa75-4e4a-9b5f-8a80a1165891"/>
    <ds:schemaRef ds:uri="http://schemas.microsoft.com/office/2006/metadata/properties"/>
  </ds:schemaRefs>
</ds:datastoreItem>
</file>

<file path=customXml/itemProps2.xml><?xml version="1.0" encoding="utf-8"?>
<ds:datastoreItem xmlns:ds="http://schemas.openxmlformats.org/officeDocument/2006/customXml" ds:itemID="{5563EE24-83AF-4B4D-B45B-11D1ECD4364A}">
  <ds:schemaRefs>
    <ds:schemaRef ds:uri="http://schemas.microsoft.com/sharepoint/v3/contenttype/forms"/>
  </ds:schemaRefs>
</ds:datastoreItem>
</file>

<file path=customXml/itemProps3.xml><?xml version="1.0" encoding="utf-8"?>
<ds:datastoreItem xmlns:ds="http://schemas.openxmlformats.org/officeDocument/2006/customXml" ds:itemID="{B2FC9C26-AD58-4393-99DE-F67958CF6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{7B337356-24D7-4297-B7F7-97CCD48147F5}TF2989475c-5427-4edb-9ec1-00f4ce72165b77c8433f_win32-c33c42577f73</Template>
  <TotalTime>136</TotalTime>
  <Words>682</Words>
  <Application>Microsoft Office PowerPoint</Application>
  <PresentationFormat>Widescreen</PresentationFormat>
  <Paragraphs>100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Segoe UI</vt:lpstr>
      <vt:lpstr>Segoe UI Light</vt:lpstr>
      <vt:lpstr>Times New Roman</vt:lpstr>
      <vt:lpstr>Custom</vt:lpstr>
      <vt:lpstr>Trust shield - Safety &amp; Smart Emergency      Assistance Website</vt:lpstr>
      <vt:lpstr>Abstract</vt:lpstr>
      <vt:lpstr>Existing System overview</vt:lpstr>
      <vt:lpstr>Proposed system overview</vt:lpstr>
      <vt:lpstr>System Architecture</vt:lpstr>
      <vt:lpstr>PowerPoint Presentation</vt:lpstr>
      <vt:lpstr>2. Application Layer (Backend Server)</vt:lpstr>
      <vt:lpstr>PowerPoint Presentation</vt:lpstr>
      <vt:lpstr>Use case diagram</vt:lpstr>
      <vt:lpstr>Dataflow Diagram</vt:lpstr>
      <vt:lpstr>PowerPoint Presentation</vt:lpstr>
      <vt:lpstr>PowerPoint Presentation</vt:lpstr>
      <vt:lpstr>scope</vt:lpstr>
      <vt:lpstr>Objectives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 shield - Safety &amp; Smart Emergency      Assistance Website</dc:title>
  <dc:creator>farhath</dc:creator>
  <cp:keywords/>
  <cp:lastModifiedBy>farhath</cp:lastModifiedBy>
  <cp:revision>3</cp:revision>
  <cp:lastPrinted>2026-01-06T06:19:28Z</cp:lastPrinted>
  <dcterms:created xsi:type="dcterms:W3CDTF">2026-01-06T03:11:40Z</dcterms:created>
  <dcterms:modified xsi:type="dcterms:W3CDTF">2026-01-06T06:22:29Z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